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Space Grotesk SemiBold"/>
      <p:regular r:id="rId18"/>
      <p:bold r:id="rId19"/>
    </p:embeddedFont>
    <p:embeddedFont>
      <p:font typeface="Comfortaa"/>
      <p:regular r:id="rId20"/>
      <p:bold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regular.fntdata"/><Relationship Id="rId11" Type="http://schemas.openxmlformats.org/officeDocument/2006/relationships/slide" Target="slides/slide6.xml"/><Relationship Id="rId22" Type="http://schemas.openxmlformats.org/officeDocument/2006/relationships/font" Target="fonts/SpaceGrotesk-regular.fntdata"/><Relationship Id="rId10" Type="http://schemas.openxmlformats.org/officeDocument/2006/relationships/slide" Target="slides/slide5.xml"/><Relationship Id="rId21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paceGroteskSemiBold-bold.fntdata"/><Relationship Id="rId6" Type="http://schemas.openxmlformats.org/officeDocument/2006/relationships/slide" Target="slides/slide1.xml"/><Relationship Id="rId18" Type="http://schemas.openxmlformats.org/officeDocument/2006/relationships/font" Target="fonts/SpaceGrotesk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2" Type="http://schemas.openxmlformats.org/officeDocument/2006/relationships/image" Target="../media/image1.png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11" Type="http://schemas.openxmlformats.org/officeDocument/2006/relationships/image" Target="../media/image3.png"/><Relationship Id="rId10" Type="http://schemas.openxmlformats.org/officeDocument/2006/relationships/image" Target="../media/image7.png"/><Relationship Id="rId9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9" Type="http://schemas.openxmlformats.org/officeDocument/2006/relationships/image" Target="../media/image33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Relationship Id="rId6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hyperlink" Target="http://drive.google.com/file/d/14jakuvyOh2j3JOB4zOMIRXmCUNhWB1cX/view" TargetMode="External"/><Relationship Id="rId6" Type="http://schemas.openxmlformats.org/officeDocument/2006/relationships/image" Target="../media/image3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00513" y="2704207"/>
            <a:ext cx="7790973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HPC </a:t>
            </a:r>
            <a:r>
              <a:rPr b="1" i="0" lang="en-US" sz="52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N-Body</a:t>
            </a:r>
            <a:r>
              <a:rPr b="1" i="0" lang="en-US" sz="52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Simulation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86012" y="3628132"/>
            <a:ext cx="74199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Accelerating Astrophysical Compute with OpenMP &amp; SIMD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231250" y="5038300"/>
            <a:ext cx="2453400" cy="1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Kuruv Patel (U23AI051)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Jeet Gupta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(U23AI056)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Akshat Agrawal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(U23AI013)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Kalp Sheladiya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(U23AI001)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1637"/>
            <a:ext cx="34290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71637"/>
            <a:ext cx="34290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671637"/>
            <a:ext cx="34290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062162"/>
            <a:ext cx="7429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167062"/>
            <a:ext cx="186023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Physics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690937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Simulating the complex gravitational interactions of 1000+ celestial bodies orbiting a central star using Newtonian mechanics and Euler integration.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2062162"/>
            <a:ext cx="7429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676775" y="3167062"/>
            <a:ext cx="20702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Compute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76775" y="3690937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Leveraging high-performance computing (HPC) techniques. Utilizing OpenMP for multithreading and SIMD instructions for rapid vector math execution.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6775" y="2062162"/>
            <a:ext cx="7429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486775" y="3167062"/>
            <a:ext cx="133016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Goal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86775" y="3690937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Achieving significant speedup over sequential execution without compromising the accuracy of the planetary orbits. Comparing metrics to benchmark scaling.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2526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9650" y="22526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29650" y="22526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12405"/>
            <a:ext cx="1622375" cy="82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809750" y="2012305"/>
            <a:ext cx="9048750" cy="1623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Universal Gravitation: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Forces are computed between every pair of particles using Newton's inverse-square law.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809750" y="3921621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Softening Parameter ( 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The variable prevents division by zero and near-collision singularities that cause unstable velocities.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809750" y="4816971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Euler Integration: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Time-stepping integration efficiently updates particle velocities based on accumulated forces, followed by positional updates using 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7394" y="3959721"/>
            <a:ext cx="14859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9475" y="5159871"/>
            <a:ext cx="8858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202659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5975" y="3050530"/>
            <a:ext cx="1108025" cy="347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33500" y="393590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14775" y="4045446"/>
            <a:ext cx="8006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33500" y="4831258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Physics Model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0034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42950" y="1600348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09625" y="160034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naive N-body calculation computes forces for every permutation, yielding an complexity.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42950" y="2352823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09625" y="2352823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By applying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Newton's Third Law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we know that for every action, there is an equal and opposite reaction.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5850" y="3391048"/>
            <a:ext cx="1063525" cy="256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42950" y="417165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09625" y="417165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inner loop is structured to start at 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42950" y="461932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09625" y="461932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When force is calculated for body , the negative of that force is immediately applied to body 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42950" y="537180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537180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slices the required gravitational force calculations exactly in half.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609873"/>
            <a:ext cx="52673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0" y="4209752"/>
            <a:ext cx="8858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00500" y="4705052"/>
            <a:ext cx="5298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6300" y="5009852"/>
            <a:ext cx="52982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Algorithmic Optimization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7850"/>
            <a:ext cx="5286375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47850"/>
            <a:ext cx="5286375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62025" y="223837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Array of Structures (AoS)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62025" y="2762250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traditional object-oriented approach groups attributes (x, y, vx, vy, mass) into a single structure.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62025" y="3819525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When computing forces, the CPU only needs the x and y coordinates, but it loads the entire struct into the cache line. This wastes memory bandwidth and leads to frequent cache misses in high-performance loops.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24650" y="223837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Structure of Arrays (SoA)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24650" y="27622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code leverages isolated vectors for each property: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24650" y="3514725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When iterating through coordinates, data is perfectly contiguous in memory. This maximizes cache utilization and is heavily favored by the compiler for generating efficient SIMD vectorization instructions.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8575" y="3105150"/>
            <a:ext cx="16573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 Layout: SoA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555069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Parallel Computation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71500" y="143827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Avoiding Atomic Bottlenecks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1962150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Because multiple threads update the same particle forces simultaneously (due to Newton's 3rd Law optimization), a race condition exists. Using on every single force addition would serialize the hardware and destroy performance.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3668910"/>
            <a:ext cx="52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The code creates thread-local force arrays </a:t>
            </a:r>
            <a:r>
              <a:rPr lang="en-US" sz="1500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and 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hreads compute and accumulate forces purely locally with zero locks.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4766071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Finally, a single block is used at the end to safely merge the thread-local arrays back into the global force array.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9775" y="4804171"/>
            <a:ext cx="18288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1552575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OMP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2981325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Scheduling Directives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334125" y="155257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Dynamic Thread Scheduling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334125" y="20764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Because the inner loop runs from to , early iterations do massive amounts of work, while later iterations do almost none. Static scheduling would result in idle threads.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334125" y="34385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By using , the runtime distributes chunks of 10 iterations to threads as they become available, keeping all cores saturated.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334125" y="459105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SIMD Vectorization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334125" y="51149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forces the compiler to process multiple loop iterations simultaneously within a single CPU vector register, compounding the performance gains.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5000" y="2124075"/>
            <a:ext cx="8858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153025"/>
            <a:ext cx="14859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Load Balancing &amp; SIMD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5524500" y="2582316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955607" y="2906166"/>
            <a:ext cx="628078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Analysis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762250" y="3830091"/>
            <a:ext cx="6667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Evaluating the computational speedup of our parallel design against a standard serial execution benchmark.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123950" y="4524375"/>
            <a:ext cx="994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OpenMP implementation demonstrates a massive reduction in simulation execution time. The localized array reduction and dynamic scheduling combined to effectively utilize all 8 physical CPU cores without lock contention overhead.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Serial vs. OpenMP Runtime</a:t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13" y="1714275"/>
            <a:ext cx="11227976" cy="21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2095500" y="2435721"/>
            <a:ext cx="8001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Simulation Output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2286000" y="3407271"/>
            <a:ext cx="7620000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code outputs a continuous CSV stream mapping (step, x, y, mass). When plotted, this data visually represents our initialized random noise orbits, maintaining structural integrity across 10,000 computed timesteps.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295275" y="2206972"/>
            <a:ext cx="116016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3492847"/>
            <a:ext cx="11049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A3E635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 for your attention.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4365277"/>
            <a:ext cx="1104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N-Body Simulation compiled with -fopenmp -O3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5212" y="439385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title="20260417-0623-29.3866684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9725" y="637025"/>
            <a:ext cx="7001476" cy="55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/>
        </p:nvSpPr>
        <p:spPr>
          <a:xfrm>
            <a:off x="1724100" y="3176500"/>
            <a:ext cx="8743800" cy="2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8FAFC"/>
                </a:solidFill>
                <a:latin typeface="Comfortaa"/>
                <a:ea typeface="Comfortaa"/>
                <a:cs typeface="Comfortaa"/>
                <a:sym typeface="Comfortaa"/>
              </a:rPr>
              <a:t>THANK YOU</a:t>
            </a:r>
            <a:endParaRPr sz="3200">
              <a:solidFill>
                <a:srgbClr val="F8FAFC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